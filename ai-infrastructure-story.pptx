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B6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CPU: flexibility</c:v>
                  </c:pt>
                  <c:pt idx="1">
                    <c:v>CPU: AI throughput</c:v>
                  </c:pt>
                  <c:pt idx="2">
                    <c:v>GPU: AI throughput</c:v>
                  </c:pt>
                  <c:pt idx="3">
                    <c:v>GPU: flexibility</c:v>
                  </c:pt>
                  <c:pt idx="4">
                    <c:v>TPU/ASIC: AI efficiency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10</c:v>
                </c:pt>
                <c:pt idx="2">
                  <c:v>95</c:v>
                </c:pt>
                <c:pt idx="3">
                  <c:v>60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84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7B model</c:v>
                  </c:pt>
                  <c:pt idx="1">
                    <c:v>13B model</c:v>
                  </c:pt>
                  <c:pt idx="2">
                    <c:v>70B model</c:v>
                  </c:pt>
                  <c:pt idx="3">
                    <c:v>405B model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26</c:v>
                </c:pt>
                <c:pt idx="2">
                  <c:v>140</c:v>
                </c:pt>
                <c:pt idx="3">
                  <c:v>810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every component is introduced only when our story needs it. Ask who has heard GPU, endpoint,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Relatable pain: nobody starts with hardware, they start with a business need. Nova drives every infra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Preview. We open with the need and close by following one real request through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useful picture. Customer questions always map to one layer. The model sits in the middle: software above, hardware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Demystify: a model is just files. The hardware question is where those files run fast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is inference only. Most customer conversations are about inference 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CPUs are not going away: they orchestrate, pre-process and serve the surrounding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CPU is 8 expert chefs, GPU is 1,000 line cooks doing the same chop. AI math is exactly that repetitive.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GPUs are the default, but specialised chips can lower cost or power. Software ecosystem is the real lock-in.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numbers from this slide; it shows shape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FP16 is 2 bytes per parameter. One 80 GB GPU cannot hold 70B in FP16, so you need several GPUs or quantization.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customers to start small. A pilot proves value before big capex.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Driven by data sensitivity, cost profile and skills. Regulated customers often land on hybrid.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Containers give portability; Kubernetes gives scheduling and recovery. Needed beyond one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costs more. Weights hot, source docs cold, embeddings in a vector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inference, NVMe plus object storage covers most cases. Parallel file systems show up in training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bottlenecks at each level. Many AI slowdowns are network, not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Inference rarely needs exotic fabrics; multi-node training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 for the next components: concurrency, not model quality, forces scale-out.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balancers spread requests; gateways add identity and quotas. Two different jobs, often confused.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 = how applications consume the model. Cloud APIs give one out of the box; on-prem you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cost per answer is won or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avoids retraining. It touches storage, network and compute, which drives infra 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mention power, cooling, rack space and FinOps (cost tracking); they often decide on-prem feasibility.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lenses: security for AI (protect the AI system) and security of AI outputs. Keep it high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six questions size most AI infra deals. Suggest role-play in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slowly and tie each step back to earlier slides: storage, network, compute, serving,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story: Nova grew because each layer answered a real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🧠➜🖥️➜🌐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AI: The Hardware Infrastructure Story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"Nova", a first enterprise AI assistant, grows from one server to a real platform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presales &amp; sales teams · 2-hour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NEED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Northwind Finance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🧑‍💼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need answers fast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buried in 10,000 docs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every week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an AI assistant called Nova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is our running example for the whole session.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journey: add a part only when Nova needs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318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8318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7462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0916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35140" y="14173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35140" y="15087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926580" y="20574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" y="31089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576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83180" y="30175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583180" y="31089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2674620" y="36576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709160" y="31089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6576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35140" y="3017520"/>
            <a:ext cx="18516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35140" y="310896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926580" y="3657600"/>
            <a:ext cx="16687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stack: 8 layers, top to bottom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apps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371600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CRM, email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69364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69364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/ RAG / agents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769364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context and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67128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167128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'brain' (weights)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4892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564892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runtime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564892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Triton: runs the 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2F6F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962656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962656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GPU · TPU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60420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3B6C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360420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360420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vectors, weights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5B5BD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758184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3758184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everything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55948"/>
            <a:ext cx="8229600" cy="324612"/>
          </a:xfrm>
          <a:prstGeom prst="roundRect">
            <a:avLst>
              <a:gd name="adj" fmla="val 22535"/>
            </a:avLst>
          </a:prstGeom>
          <a:solidFill>
            <a:srgbClr val="6D4F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155948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4155948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cooling, cloud or on-prem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model live?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big files of weights (GBs to 100s of GB)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disk or object storage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GPU memory at startup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requests via an endpoint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rule #1: the model must fit in GPU memory.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 inference: build vs 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🏋️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model. Weeks, thousands of GPUs. Mostly labs and vendors.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🎛️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a model to your data. Hours to days, a few GPUs.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model 24x7. Latency matters. Where most enterprises spend.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the versatile manager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powerful cores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8 to 128 cores, handles varied logic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uses it for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APIs, data prep, small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🐢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for big-model math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thousands of small workers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a few big cores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103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8" name="Shape 6"/>
          <p:cNvSpPr/>
          <p:nvPr/>
        </p:nvSpPr>
        <p:spPr>
          <a:xfrm>
            <a:off x="2514600" y="2103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2103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63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3063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3063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3063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84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thousands of small cores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221224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504688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788152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071616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638544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922008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205472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488936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55864" y="201168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221224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5504688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788152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071616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638544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922008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7205472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7" name="Shape 35"/>
          <p:cNvSpPr/>
          <p:nvPr/>
        </p:nvSpPr>
        <p:spPr>
          <a:xfrm>
            <a:off x="7488936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0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39" name="Shape 37"/>
          <p:cNvSpPr/>
          <p:nvPr/>
        </p:nvSpPr>
        <p:spPr>
          <a:xfrm>
            <a:off x="8055864" y="229514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0" name="Shape 38"/>
          <p:cNvSpPr/>
          <p:nvPr/>
        </p:nvSpPr>
        <p:spPr>
          <a:xfrm>
            <a:off x="4937760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1" name="Shape 39"/>
          <p:cNvSpPr/>
          <p:nvPr/>
        </p:nvSpPr>
        <p:spPr>
          <a:xfrm>
            <a:off x="5221224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5504688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5788152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4" name="Shape 42"/>
          <p:cNvSpPr/>
          <p:nvPr/>
        </p:nvSpPr>
        <p:spPr>
          <a:xfrm>
            <a:off x="6071616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5" name="Shape 43"/>
          <p:cNvSpPr/>
          <p:nvPr/>
        </p:nvSpPr>
        <p:spPr>
          <a:xfrm>
            <a:off x="6355080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6" name="Shape 44"/>
          <p:cNvSpPr/>
          <p:nvPr/>
        </p:nvSpPr>
        <p:spPr>
          <a:xfrm>
            <a:off x="6638544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7" name="Shape 45"/>
          <p:cNvSpPr/>
          <p:nvPr/>
        </p:nvSpPr>
        <p:spPr>
          <a:xfrm>
            <a:off x="6922008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8" name="Shape 46"/>
          <p:cNvSpPr/>
          <p:nvPr/>
        </p:nvSpPr>
        <p:spPr>
          <a:xfrm>
            <a:off x="7205472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49" name="Shape 47"/>
          <p:cNvSpPr/>
          <p:nvPr/>
        </p:nvSpPr>
        <p:spPr>
          <a:xfrm>
            <a:off x="7488936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0" name="Shape 48"/>
          <p:cNvSpPr/>
          <p:nvPr/>
        </p:nvSpPr>
        <p:spPr>
          <a:xfrm>
            <a:off x="7772400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1" name="Shape 49"/>
          <p:cNvSpPr/>
          <p:nvPr/>
        </p:nvSpPr>
        <p:spPr>
          <a:xfrm>
            <a:off x="8055864" y="257860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2" name="Shape 50"/>
          <p:cNvSpPr/>
          <p:nvPr/>
        </p:nvSpPr>
        <p:spPr>
          <a:xfrm>
            <a:off x="4937760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3" name="Shape 51"/>
          <p:cNvSpPr/>
          <p:nvPr/>
        </p:nvSpPr>
        <p:spPr>
          <a:xfrm>
            <a:off x="5221224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4" name="Shape 52"/>
          <p:cNvSpPr/>
          <p:nvPr/>
        </p:nvSpPr>
        <p:spPr>
          <a:xfrm>
            <a:off x="5504688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5" name="Shape 53"/>
          <p:cNvSpPr/>
          <p:nvPr/>
        </p:nvSpPr>
        <p:spPr>
          <a:xfrm>
            <a:off x="5788152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6" name="Shape 54"/>
          <p:cNvSpPr/>
          <p:nvPr/>
        </p:nvSpPr>
        <p:spPr>
          <a:xfrm>
            <a:off x="6071616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7" name="Shape 55"/>
          <p:cNvSpPr/>
          <p:nvPr/>
        </p:nvSpPr>
        <p:spPr>
          <a:xfrm>
            <a:off x="6355080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8" name="Shape 56"/>
          <p:cNvSpPr/>
          <p:nvPr/>
        </p:nvSpPr>
        <p:spPr>
          <a:xfrm>
            <a:off x="6638544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59" name="Shape 57"/>
          <p:cNvSpPr/>
          <p:nvPr/>
        </p:nvSpPr>
        <p:spPr>
          <a:xfrm>
            <a:off x="6922008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0" name="Shape 58"/>
          <p:cNvSpPr/>
          <p:nvPr/>
        </p:nvSpPr>
        <p:spPr>
          <a:xfrm>
            <a:off x="7205472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1" name="Shape 59"/>
          <p:cNvSpPr/>
          <p:nvPr/>
        </p:nvSpPr>
        <p:spPr>
          <a:xfrm>
            <a:off x="7488936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2" name="Shape 60"/>
          <p:cNvSpPr/>
          <p:nvPr/>
        </p:nvSpPr>
        <p:spPr>
          <a:xfrm>
            <a:off x="7772400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3" name="Shape 61"/>
          <p:cNvSpPr/>
          <p:nvPr/>
        </p:nvSpPr>
        <p:spPr>
          <a:xfrm>
            <a:off x="8055864" y="2862072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4" name="Shape 62"/>
          <p:cNvSpPr/>
          <p:nvPr/>
        </p:nvSpPr>
        <p:spPr>
          <a:xfrm>
            <a:off x="4937760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5" name="Shape 63"/>
          <p:cNvSpPr/>
          <p:nvPr/>
        </p:nvSpPr>
        <p:spPr>
          <a:xfrm>
            <a:off x="5221224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6" name="Shape 64"/>
          <p:cNvSpPr/>
          <p:nvPr/>
        </p:nvSpPr>
        <p:spPr>
          <a:xfrm>
            <a:off x="5504688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7" name="Shape 65"/>
          <p:cNvSpPr/>
          <p:nvPr/>
        </p:nvSpPr>
        <p:spPr>
          <a:xfrm>
            <a:off x="5788152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8" name="Shape 66"/>
          <p:cNvSpPr/>
          <p:nvPr/>
        </p:nvSpPr>
        <p:spPr>
          <a:xfrm>
            <a:off x="6071616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69" name="Shape 67"/>
          <p:cNvSpPr/>
          <p:nvPr/>
        </p:nvSpPr>
        <p:spPr>
          <a:xfrm>
            <a:off x="6355080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0" name="Shape 68"/>
          <p:cNvSpPr/>
          <p:nvPr/>
        </p:nvSpPr>
        <p:spPr>
          <a:xfrm>
            <a:off x="6638544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1" name="Shape 69"/>
          <p:cNvSpPr/>
          <p:nvPr/>
        </p:nvSpPr>
        <p:spPr>
          <a:xfrm>
            <a:off x="6922008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2" name="Shape 70"/>
          <p:cNvSpPr/>
          <p:nvPr/>
        </p:nvSpPr>
        <p:spPr>
          <a:xfrm>
            <a:off x="7205472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3" name="Shape 71"/>
          <p:cNvSpPr/>
          <p:nvPr/>
        </p:nvSpPr>
        <p:spPr>
          <a:xfrm>
            <a:off x="7488936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5" name="Shape 73"/>
          <p:cNvSpPr/>
          <p:nvPr/>
        </p:nvSpPr>
        <p:spPr>
          <a:xfrm>
            <a:off x="8055864" y="3145536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6" name="Shape 74"/>
          <p:cNvSpPr/>
          <p:nvPr/>
        </p:nvSpPr>
        <p:spPr>
          <a:xfrm>
            <a:off x="4937760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7" name="Shape 75"/>
          <p:cNvSpPr/>
          <p:nvPr/>
        </p:nvSpPr>
        <p:spPr>
          <a:xfrm>
            <a:off x="5221224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8" name="Shape 76"/>
          <p:cNvSpPr/>
          <p:nvPr/>
        </p:nvSpPr>
        <p:spPr>
          <a:xfrm>
            <a:off x="5504688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79" name="Shape 77"/>
          <p:cNvSpPr/>
          <p:nvPr/>
        </p:nvSpPr>
        <p:spPr>
          <a:xfrm>
            <a:off x="5788152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0" name="Shape 78"/>
          <p:cNvSpPr/>
          <p:nvPr/>
        </p:nvSpPr>
        <p:spPr>
          <a:xfrm>
            <a:off x="6071616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1" name="Shape 79"/>
          <p:cNvSpPr/>
          <p:nvPr/>
        </p:nvSpPr>
        <p:spPr>
          <a:xfrm>
            <a:off x="6355080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2" name="Shape 80"/>
          <p:cNvSpPr/>
          <p:nvPr/>
        </p:nvSpPr>
        <p:spPr>
          <a:xfrm>
            <a:off x="6638544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3" name="Shape 81"/>
          <p:cNvSpPr/>
          <p:nvPr/>
        </p:nvSpPr>
        <p:spPr>
          <a:xfrm>
            <a:off x="6922008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4" name="Shape 82"/>
          <p:cNvSpPr/>
          <p:nvPr/>
        </p:nvSpPr>
        <p:spPr>
          <a:xfrm>
            <a:off x="7205472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5" name="Shape 83"/>
          <p:cNvSpPr/>
          <p:nvPr/>
        </p:nvSpPr>
        <p:spPr>
          <a:xfrm>
            <a:off x="7488936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6" name="Shape 84"/>
          <p:cNvSpPr/>
          <p:nvPr/>
        </p:nvSpPr>
        <p:spPr>
          <a:xfrm>
            <a:off x="7772400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7" name="Shape 85"/>
          <p:cNvSpPr/>
          <p:nvPr/>
        </p:nvSpPr>
        <p:spPr>
          <a:xfrm>
            <a:off x="8055864" y="3429000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8" name="Shape 86"/>
          <p:cNvSpPr/>
          <p:nvPr/>
        </p:nvSpPr>
        <p:spPr>
          <a:xfrm>
            <a:off x="4937760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89" name="Shape 87"/>
          <p:cNvSpPr/>
          <p:nvPr/>
        </p:nvSpPr>
        <p:spPr>
          <a:xfrm>
            <a:off x="5221224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0" name="Shape 88"/>
          <p:cNvSpPr/>
          <p:nvPr/>
        </p:nvSpPr>
        <p:spPr>
          <a:xfrm>
            <a:off x="5504688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1" name="Shape 89"/>
          <p:cNvSpPr/>
          <p:nvPr/>
        </p:nvSpPr>
        <p:spPr>
          <a:xfrm>
            <a:off x="5788152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2" name="Shape 90"/>
          <p:cNvSpPr/>
          <p:nvPr/>
        </p:nvSpPr>
        <p:spPr>
          <a:xfrm>
            <a:off x="6071616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3" name="Shape 91"/>
          <p:cNvSpPr/>
          <p:nvPr/>
        </p:nvSpPr>
        <p:spPr>
          <a:xfrm>
            <a:off x="6355080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4" name="Shape 92"/>
          <p:cNvSpPr/>
          <p:nvPr/>
        </p:nvSpPr>
        <p:spPr>
          <a:xfrm>
            <a:off x="6638544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5" name="Shape 93"/>
          <p:cNvSpPr/>
          <p:nvPr/>
        </p:nvSpPr>
        <p:spPr>
          <a:xfrm>
            <a:off x="6922008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6" name="Shape 94"/>
          <p:cNvSpPr/>
          <p:nvPr/>
        </p:nvSpPr>
        <p:spPr>
          <a:xfrm>
            <a:off x="7205472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7" name="Shape 95"/>
          <p:cNvSpPr/>
          <p:nvPr/>
        </p:nvSpPr>
        <p:spPr>
          <a:xfrm>
            <a:off x="7488936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8" name="Shape 96"/>
          <p:cNvSpPr/>
          <p:nvPr/>
        </p:nvSpPr>
        <p:spPr>
          <a:xfrm>
            <a:off x="7772400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99" name="Shape 97"/>
          <p:cNvSpPr/>
          <p:nvPr/>
        </p:nvSpPr>
        <p:spPr>
          <a:xfrm>
            <a:off x="8055864" y="3712464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0" name="Shape 98"/>
          <p:cNvSpPr/>
          <p:nvPr/>
        </p:nvSpPr>
        <p:spPr>
          <a:xfrm>
            <a:off x="4937760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1" name="Shape 99"/>
          <p:cNvSpPr/>
          <p:nvPr/>
        </p:nvSpPr>
        <p:spPr>
          <a:xfrm>
            <a:off x="5221224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504688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788152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071616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355080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638544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922008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205472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488936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72400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055864" y="3995928"/>
            <a:ext cx="182880" cy="182880"/>
          </a:xfrm>
          <a:prstGeom prst="ellipse">
            <a:avLst/>
          </a:prstGeom>
          <a:solidFill>
            <a:srgbClr val="3B6CF6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mostly matrix math, which can be split across many workers at once.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and other accelerators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AI chip, used via Google Cloud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ASICs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AWS Trainium and Inferentia, efficient per task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🟣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/ edge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 laptops, phones, cameras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🟢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vendors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leads; AMD and Intel are growing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engine (illustrative)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sketch, not a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decides which model fits (GB, FP16)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quantization shrinks weights roughly 4x; add room for the KV cache.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· NOVA V1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one GPU server, small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docs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7–8B model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GPU server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pilot users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fast learning. Enough to prove value.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run it: 4 deployment options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start, pay per use, data leaves your walls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GPUs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VMs, you control the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GPUs, data stays, upfront cost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on-prem, burst to cloud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containers and Kubernetes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bundles model + runtime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☸️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places it on GPU nodes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up and down, self-heals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package runs on cloud or on-prem.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STORAGE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needs memory: storage tiers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Hot: local NVMe SSD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371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weights, caches, fastest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47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Warm: NAS / SAN / block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947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files, databases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23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object storage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23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backups, data lake: cheap and huge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0998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Special: vector database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0998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for semantic search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STORAGE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options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NVMe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latency, fast model load, not shared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(NFS/SMB)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files, simple, moderate speed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/ block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low latency, enterprise HA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🪣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(S3-style)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cost, source of RAG documents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9852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🏎️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9852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file system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GPUs read at once, mainly training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NETWORK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networks, three jobs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server: NVLink, PCIe (GPU to GPU)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🕸️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servers: InfiniBand, RoCE Ethernet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users: LAN/WAN, VPN, load balancers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NETWORK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25–100G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for inference and storage traffic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🚄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400G+ with RoCE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clusters; needs lossless tuning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latency, large training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/ NVSwitch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behave like one big GPU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Small-model inference: standard Ethernet. Training clusters: network is the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·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goes viral: 20 users become 2,000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spreads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🐌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answers, timeouts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load balancer + more GPU replicas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response times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SERVING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path: gateway and load balancer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088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8318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gateway: auth, limits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35140" y="1920240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2468880"/>
            <a:ext cx="16687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replicas A · B · 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remove a failing replica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SERVING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endpoint: the front door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stable URL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call /chat; the model behind can change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quotas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SSO, per-team limits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upgrades, A/B tests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SERVING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runtime: squeezing the GPU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Triton, TGI load and run the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🧺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many users per GPU pass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context, eats GPU memory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replicas when queue grows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learns your data: enterprise data flow (RAG)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CRM, wiki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83664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57984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embed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58768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58768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59552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559552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50992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 matches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86016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60336" y="1828800"/>
            <a:ext cx="1426464" cy="1828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60336" y="19202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24688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with sources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stays general; your knowledge stays in your data layer.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missing something?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traffic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limits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🗃️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repeat answers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436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GPU use, cost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60320" y="29718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69748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🪪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roles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0060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🛑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unsafe or leaky output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29718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90372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and DR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Failover, backups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touches every layer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and agents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371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tool permissions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47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947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Access-aware retrieval, no leaks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23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23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weights, licensing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0998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endpoint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0998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AuthN/Z, rate limits, logging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F6F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758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6758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encryption, GPU tenancy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cheat-sheet: questions to ask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users, at peak?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or vendor API?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data, and where?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latency is acceptable?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9852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9852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on-prem or hybrid? Compliance?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0268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0268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power and cooling limits?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end to 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1️⃣💬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asks Nova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2️⃣🚪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checks identity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2648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3️⃣⚖️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picks a replica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720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4️⃣🗃️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fetches docs from vector DB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29184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5️⃣🖥️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generates the answer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CF6"/>
                </a:solidFill>
              </a:rPr>
              <a:t>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2648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6️⃣🛡️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check, answer returns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sits between apps and compute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852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for AI, CPUs orchestrate, ASICs specialise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14630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9659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network are silent bottlenecks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LBs and gateways make it enterprise-ready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98520" y="30632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98520" y="356616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and security make it trusted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2026-09-28T17:54:03Z</dcterms:created>
  <dcterms:modified xsi:type="dcterms:W3CDTF">2026-09-28T17:54:03Z</dcterms:modified>
</cp:coreProperties>
</file>